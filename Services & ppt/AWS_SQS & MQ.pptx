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AWS SQS &amp; Amazon MQ</a:t>
            </a:r>
          </a:p>
        </p:txBody>
      </p:sp>
      <p:sp>
        <p:nvSpPr>
          <p:cNvPr id="95" name="Subtitle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Messaging Services in AWS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What is Amazon SQS?</a:t>
            </a:r>
          </a:p>
        </p:txBody>
      </p:sp>
      <p:sp>
        <p:nvSpPr>
          <p:cNvPr id="98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Simple Queue Service</a:t>
            </a:r>
          </a:p>
          <a:p>
            <a:pPr/>
            <a:r>
              <a:t>Managed message queue service</a:t>
            </a:r>
          </a:p>
          <a:p>
            <a:pPr/>
            <a:r>
              <a:t>Enables asynchronous communication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Why Use SQS?</a:t>
            </a:r>
          </a:p>
        </p:txBody>
      </p:sp>
      <p:sp>
        <p:nvSpPr>
          <p:cNvPr id="101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Decouples applications</a:t>
            </a:r>
          </a:p>
          <a:p>
            <a:pPr/>
            <a:r>
              <a:t>Scalable and reliable</a:t>
            </a:r>
          </a:p>
          <a:p>
            <a:pPr/>
            <a:r>
              <a:t>Supports background processing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SQS Use Cases</a:t>
            </a:r>
          </a:p>
        </p:txBody>
      </p:sp>
      <p:sp>
        <p:nvSpPr>
          <p:cNvPr id="104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Order processing</a:t>
            </a:r>
          </a:p>
          <a:p>
            <a:pPr/>
            <a:r>
              <a:t>Notification systems</a:t>
            </a:r>
          </a:p>
          <a:p>
            <a:pPr/>
            <a:r>
              <a:t>Microservices communication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What is Amazon MQ?</a:t>
            </a:r>
          </a:p>
        </p:txBody>
      </p:sp>
      <p:sp>
        <p:nvSpPr>
          <p:cNvPr id="107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Managed message broker service</a:t>
            </a:r>
          </a:p>
          <a:p>
            <a:pPr/>
            <a:r>
              <a:t>Supports RabbitMQ &amp; ActiveMQ</a:t>
            </a:r>
          </a:p>
          <a:p>
            <a:pPr/>
            <a:r>
              <a:t>Useful for enterprise applications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Why Use Amazon MQ?</a:t>
            </a:r>
          </a:p>
        </p:txBody>
      </p:sp>
      <p:sp>
        <p:nvSpPr>
          <p:cNvPr id="110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Legacy application support</a:t>
            </a:r>
          </a:p>
          <a:p>
            <a:pPr/>
            <a:r>
              <a:t>Protocol support (AMQP, MQTT)</a:t>
            </a:r>
          </a:p>
          <a:p>
            <a:pPr/>
            <a:r>
              <a:t>Enterprise messaging systems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SQS vs Amazon MQ</a:t>
            </a:r>
          </a:p>
        </p:txBody>
      </p:sp>
      <p:sp>
        <p:nvSpPr>
          <p:cNvPr id="113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SQS = Simple cloud-native queues</a:t>
            </a:r>
          </a:p>
          <a:p>
            <a:pPr/>
            <a:r>
              <a:t>Amazon MQ = Enterprise message broker</a:t>
            </a:r>
          </a:p>
          <a:p>
            <a:pPr/>
            <a:r>
              <a:t>MQ supports multiple protocols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Architecture Flow</a:t>
            </a:r>
          </a:p>
        </p:txBody>
      </p:sp>
      <p:grpSp>
        <p:nvGrpSpPr>
          <p:cNvPr id="118" name="Rounded Rectangle 2"/>
          <p:cNvGrpSpPr/>
          <p:nvPr/>
        </p:nvGrpSpPr>
        <p:grpSpPr>
          <a:xfrm>
            <a:off x="457200" y="1828800"/>
            <a:ext cx="1828800" cy="914400"/>
            <a:chOff x="0" y="0"/>
            <a:chExt cx="1828800" cy="914400"/>
          </a:xfrm>
        </p:grpSpPr>
        <p:sp>
          <p:nvSpPr>
            <p:cNvPr id="116" name="Rounded Rectangle"/>
            <p:cNvSpPr/>
            <p:nvPr/>
          </p:nvSpPr>
          <p:spPr>
            <a:xfrm>
              <a:off x="0" y="0"/>
              <a:ext cx="1828800" cy="914400"/>
            </a:xfrm>
            <a:prstGeom prst="roundRect">
              <a:avLst>
                <a:gd name="adj" fmla="val 16667"/>
              </a:avLst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17" name="Application"/>
            <p:cNvSpPr txBox="1"/>
            <p:nvPr/>
          </p:nvSpPr>
          <p:spPr>
            <a:xfrm>
              <a:off x="95119" y="290656"/>
              <a:ext cx="1638562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Application</a:t>
              </a:r>
            </a:p>
          </p:txBody>
        </p:sp>
      </p:grpSp>
      <p:grpSp>
        <p:nvGrpSpPr>
          <p:cNvPr id="121" name="Rounded Rectangle 3"/>
          <p:cNvGrpSpPr/>
          <p:nvPr/>
        </p:nvGrpSpPr>
        <p:grpSpPr>
          <a:xfrm>
            <a:off x="3200400" y="1828800"/>
            <a:ext cx="1828800" cy="914400"/>
            <a:chOff x="0" y="0"/>
            <a:chExt cx="1828800" cy="914400"/>
          </a:xfrm>
        </p:grpSpPr>
        <p:sp>
          <p:nvSpPr>
            <p:cNvPr id="119" name="Rounded Rectangle"/>
            <p:cNvSpPr/>
            <p:nvPr/>
          </p:nvSpPr>
          <p:spPr>
            <a:xfrm>
              <a:off x="0" y="0"/>
              <a:ext cx="1828800" cy="914400"/>
            </a:xfrm>
            <a:prstGeom prst="roundRect">
              <a:avLst>
                <a:gd name="adj" fmla="val 16667"/>
              </a:avLst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0" name="Amazon SQS"/>
            <p:cNvSpPr txBox="1"/>
            <p:nvPr/>
          </p:nvSpPr>
          <p:spPr>
            <a:xfrm>
              <a:off x="95119" y="290656"/>
              <a:ext cx="1638562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Amazon SQS</a:t>
              </a:r>
            </a:p>
          </p:txBody>
        </p:sp>
      </p:grpSp>
      <p:grpSp>
        <p:nvGrpSpPr>
          <p:cNvPr id="124" name="Rounded Rectangle 4"/>
          <p:cNvGrpSpPr/>
          <p:nvPr/>
        </p:nvGrpSpPr>
        <p:grpSpPr>
          <a:xfrm>
            <a:off x="5943600" y="1828800"/>
            <a:ext cx="1828800" cy="914400"/>
            <a:chOff x="0" y="0"/>
            <a:chExt cx="1828800" cy="914400"/>
          </a:xfrm>
        </p:grpSpPr>
        <p:sp>
          <p:nvSpPr>
            <p:cNvPr id="122" name="Rounded Rectangle"/>
            <p:cNvSpPr/>
            <p:nvPr/>
          </p:nvSpPr>
          <p:spPr>
            <a:xfrm>
              <a:off x="0" y="0"/>
              <a:ext cx="1828800" cy="914400"/>
            </a:xfrm>
            <a:prstGeom prst="roundRect">
              <a:avLst>
                <a:gd name="adj" fmla="val 16667"/>
              </a:avLst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3" name="AWS Lambda"/>
            <p:cNvSpPr txBox="1"/>
            <p:nvPr/>
          </p:nvSpPr>
          <p:spPr>
            <a:xfrm>
              <a:off x="95119" y="290656"/>
              <a:ext cx="1638562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AWS Lambda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Summary</a:t>
            </a:r>
          </a:p>
        </p:txBody>
      </p:sp>
      <p:sp>
        <p:nvSpPr>
          <p:cNvPr id="127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SQS = scalable queue service</a:t>
            </a:r>
          </a:p>
          <a:p>
            <a:pPr/>
            <a:r>
              <a:t>Amazon MQ = enterprise broker</a:t>
            </a:r>
          </a:p>
          <a:p>
            <a:pPr/>
            <a:r>
              <a:t>Both improve system communication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