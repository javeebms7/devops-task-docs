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Security Services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WAF, Shield &amp; Firewall Manager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AWS WAF?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Web Application Firewall</a:t>
            </a:r>
          </a:p>
          <a:p>
            <a:pPr/>
            <a:r>
              <a:t>Protects web apps from attacks</a:t>
            </a:r>
          </a:p>
          <a:p>
            <a:pPr/>
            <a:r>
              <a:t>Filters malicious HTTP/HTTPS traffic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AWS WAF?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Blocks SQL injection attacks</a:t>
            </a:r>
          </a:p>
          <a:p>
            <a:pPr/>
            <a:r>
              <a:t>Protects against XSS attacks</a:t>
            </a:r>
          </a:p>
          <a:p>
            <a:pPr/>
            <a:r>
              <a:t>Creates custom security rules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AWS Shield Advanced?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Advanced DDoS protection service</a:t>
            </a:r>
          </a:p>
          <a:p>
            <a:pPr/>
            <a:r>
              <a:t>Protects applications from large attacks</a:t>
            </a:r>
          </a:p>
          <a:p>
            <a:pPr/>
            <a:r>
              <a:t>Provides 24/7 AWS DDoS response team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Shield Advanced?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Advanced attack detection</a:t>
            </a:r>
          </a:p>
          <a:p>
            <a:pPr/>
            <a:r>
              <a:t>Real-time protection</a:t>
            </a:r>
          </a:p>
          <a:p>
            <a:pPr/>
            <a:r>
              <a:t>Cost protection during DDoS attacks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What is AWS Shield Network Security Director?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Helps visualize network security posture</a:t>
            </a:r>
          </a:p>
          <a:p>
            <a:pPr/>
            <a:r>
              <a:t>Detects risky configurations</a:t>
            </a:r>
          </a:p>
          <a:p>
            <a:pPr/>
            <a:r>
              <a:t>Provides security recommendations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02336">
              <a:defRPr sz="3872"/>
            </a:lvl1pPr>
          </a:lstStyle>
          <a:p>
            <a:pPr/>
            <a:r>
              <a:t>Uses of Shield Network Security Director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Monitor security gaps</a:t>
            </a:r>
          </a:p>
          <a:p>
            <a:pPr/>
            <a:r>
              <a:t>Improve network visibility</a:t>
            </a:r>
          </a:p>
          <a:p>
            <a:pPr/>
            <a:r>
              <a:t>Identify misconfigurations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AWS Firewall Manager?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Centralized security management service</a:t>
            </a:r>
          </a:p>
          <a:p>
            <a:pPr/>
            <a:r>
              <a:t>Manages WAF, Shield &amp; firewall rules</a:t>
            </a:r>
          </a:p>
          <a:p>
            <a:pPr/>
            <a:r>
              <a:t>Applies policies across AWS accounts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Why Use Firewall Manager?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Centralized security control</a:t>
            </a:r>
          </a:p>
          <a:p>
            <a:pPr/>
            <a:r>
              <a:t>Simplifies policy management</a:t>
            </a:r>
          </a:p>
          <a:p>
            <a:pPr/>
            <a:r>
              <a:t>Automates compliance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Service Comparison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WAF = Web attack protection</a:t>
            </a:r>
          </a:p>
          <a:p>
            <a:pPr/>
            <a:r>
              <a:t>Shield Advanced = DDoS protection</a:t>
            </a:r>
          </a:p>
          <a:p>
            <a:pPr/>
            <a:r>
              <a:t>Network Security Director = Security visibility</a:t>
            </a:r>
          </a:p>
          <a:p>
            <a:pPr/>
            <a:r>
              <a:t>Firewall Manager = Centralized management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AWS Security Protection Flow</a:t>
            </a:r>
          </a:p>
        </p:txBody>
      </p:sp>
      <p:grpSp>
        <p:nvGrpSpPr>
          <p:cNvPr id="127" name="Rounded Rectangle 2"/>
          <p:cNvGrpSpPr/>
          <p:nvPr/>
        </p:nvGrpSpPr>
        <p:grpSpPr>
          <a:xfrm>
            <a:off x="274320" y="1828800"/>
            <a:ext cx="1828801" cy="914400"/>
            <a:chOff x="0" y="0"/>
            <a:chExt cx="1828800" cy="914400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6" name="Internet Traffic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Internet Traffic</a:t>
              </a:r>
            </a:p>
          </p:txBody>
        </p:sp>
      </p:grpSp>
      <p:grpSp>
        <p:nvGrpSpPr>
          <p:cNvPr id="130" name="Rounded Rectangle 3"/>
          <p:cNvGrpSpPr/>
          <p:nvPr/>
        </p:nvGrpSpPr>
        <p:grpSpPr>
          <a:xfrm>
            <a:off x="2560320" y="1828800"/>
            <a:ext cx="1828801" cy="914400"/>
            <a:chOff x="0" y="0"/>
            <a:chExt cx="1828800" cy="914400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9" name="AWS Shield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AWS Shield</a:t>
              </a:r>
            </a:p>
          </p:txBody>
        </p:sp>
      </p:grpSp>
      <p:grpSp>
        <p:nvGrpSpPr>
          <p:cNvPr id="133" name="Rounded Rectangle 4"/>
          <p:cNvGrpSpPr/>
          <p:nvPr/>
        </p:nvGrpSpPr>
        <p:grpSpPr>
          <a:xfrm>
            <a:off x="4846320" y="1828800"/>
            <a:ext cx="1828801" cy="914400"/>
            <a:chOff x="0" y="0"/>
            <a:chExt cx="1828800" cy="914400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2" name="AWS WAF"/>
            <p:cNvSpPr txBox="1"/>
            <p:nvPr/>
          </p:nvSpPr>
          <p:spPr>
            <a:xfrm>
              <a:off x="95119" y="290656"/>
              <a:ext cx="1638562" cy="3330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AWS WAF</a:t>
              </a:r>
            </a:p>
          </p:txBody>
        </p:sp>
      </p:grpSp>
      <p:grpSp>
        <p:nvGrpSpPr>
          <p:cNvPr id="136" name="Rounded Rectangle 5"/>
          <p:cNvGrpSpPr/>
          <p:nvPr/>
        </p:nvGrpSpPr>
        <p:grpSpPr>
          <a:xfrm>
            <a:off x="7132319" y="1828800"/>
            <a:ext cx="1828801" cy="914400"/>
            <a:chOff x="0" y="0"/>
            <a:chExt cx="1828800" cy="914400"/>
          </a:xfrm>
        </p:grpSpPr>
        <p:sp>
          <p:nvSpPr>
            <p:cNvPr id="134" name="Rounded Rectangle"/>
            <p:cNvSpPr/>
            <p:nvPr/>
          </p:nvSpPr>
          <p:spPr>
            <a:xfrm>
              <a:off x="0" y="0"/>
              <a:ext cx="1828800" cy="914400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3F80CE"/>
                </a:gs>
                <a:gs pos="100000">
                  <a:schemeClr val="accent1">
                    <a:hueOff val="357503"/>
                    <a:satOff val="54545"/>
                    <a:lumOff val="29273"/>
                  </a:schemeClr>
                </a:gs>
              </a:gsLst>
              <a:lin ang="16200000" scaled="0"/>
            </a:gradFill>
            <a:ln w="9525" cap="flat">
              <a:solidFill>
                <a:srgbClr val="4A7EB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5" name="Application / ALB"/>
            <p:cNvSpPr txBox="1"/>
            <p:nvPr/>
          </p:nvSpPr>
          <p:spPr>
            <a:xfrm>
              <a:off x="95119" y="144606"/>
              <a:ext cx="1638562" cy="625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Application / ALB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</a:t>
            </a:r>
          </a:p>
        </p:txBody>
      </p:sp>
      <p:sp>
        <p:nvSpPr>
          <p:cNvPr id="13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WAF filters malicious traffic</a:t>
            </a:r>
          </a:p>
          <a:p>
            <a:pPr/>
            <a:r>
              <a:t>Shield protects against DDoS</a:t>
            </a:r>
          </a:p>
          <a:p>
            <a:pPr/>
            <a:r>
              <a:t>Firewall Manager manages policies</a:t>
            </a:r>
          </a:p>
          <a:p>
            <a:pPr/>
            <a:r>
              <a:t>Together improve AWS security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