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API Gateway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Front door for our applications (AWS)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API Gateway?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Managed service by AWS</a:t>
            </a:r>
          </a:p>
          <a:p>
            <a:pPr/>
            <a:r>
              <a:t>Acts as entry point for APIs</a:t>
            </a:r>
          </a:p>
          <a:p>
            <a:pPr/>
            <a:r>
              <a:t>Connects frontend to backend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How API Gateway Works</a:t>
            </a:r>
          </a:p>
        </p:txBody>
      </p:sp>
      <p:grpSp>
        <p:nvGrpSpPr>
          <p:cNvPr id="103" name="Rounded Rectangle 2"/>
          <p:cNvGrpSpPr/>
          <p:nvPr/>
        </p:nvGrpSpPr>
        <p:grpSpPr>
          <a:xfrm>
            <a:off x="457200" y="1828800"/>
            <a:ext cx="1828800" cy="914400"/>
            <a:chOff x="0" y="0"/>
            <a:chExt cx="1828800" cy="914400"/>
          </a:xfrm>
        </p:grpSpPr>
        <p:sp>
          <p:nvSpPr>
            <p:cNvPr id="101" name="Rounded Rectangle"/>
            <p:cNvSpPr/>
            <p:nvPr/>
          </p:nvSpPr>
          <p:spPr>
            <a:xfrm>
              <a:off x="0" y="0"/>
              <a:ext cx="1828800" cy="9144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2" name="Client…"/>
            <p:cNvSpPr txBox="1"/>
            <p:nvPr/>
          </p:nvSpPr>
          <p:spPr>
            <a:xfrm>
              <a:off x="95119" y="144606"/>
              <a:ext cx="1638562" cy="6251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r>
                <a:t>Client</a:t>
              </a:r>
            </a:p>
            <a:p>
              <a:pPr>
                <a:defRPr>
                  <a:solidFill>
                    <a:srgbClr val="FFFFFF"/>
                  </a:solidFill>
                </a:defRPr>
              </a:pPr>
              <a:r>
                <a:t>(Web/Mobile)</a:t>
              </a:r>
            </a:p>
          </p:txBody>
        </p:sp>
      </p:grpSp>
      <p:grpSp>
        <p:nvGrpSpPr>
          <p:cNvPr id="106" name="Rounded Rectangle 3"/>
          <p:cNvGrpSpPr/>
          <p:nvPr/>
        </p:nvGrpSpPr>
        <p:grpSpPr>
          <a:xfrm>
            <a:off x="3200400" y="1828800"/>
            <a:ext cx="1828800" cy="914400"/>
            <a:chOff x="0" y="0"/>
            <a:chExt cx="1828800" cy="914400"/>
          </a:xfrm>
        </p:grpSpPr>
        <p:sp>
          <p:nvSpPr>
            <p:cNvPr id="104" name="Rounded Rectangle"/>
            <p:cNvSpPr/>
            <p:nvPr/>
          </p:nvSpPr>
          <p:spPr>
            <a:xfrm>
              <a:off x="0" y="0"/>
              <a:ext cx="1828800" cy="9144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5" name="API Gateway"/>
            <p:cNvSpPr txBox="1"/>
            <p:nvPr/>
          </p:nvSpPr>
          <p:spPr>
            <a:xfrm>
              <a:off x="95119" y="290656"/>
              <a:ext cx="163856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API Gateway</a:t>
              </a:r>
            </a:p>
          </p:txBody>
        </p:sp>
      </p:grpSp>
      <p:grpSp>
        <p:nvGrpSpPr>
          <p:cNvPr id="109" name="Rounded Rectangle 4"/>
          <p:cNvGrpSpPr/>
          <p:nvPr/>
        </p:nvGrpSpPr>
        <p:grpSpPr>
          <a:xfrm>
            <a:off x="5943600" y="1828800"/>
            <a:ext cx="1828800" cy="914400"/>
            <a:chOff x="0" y="0"/>
            <a:chExt cx="1828800" cy="914400"/>
          </a:xfrm>
        </p:grpSpPr>
        <p:sp>
          <p:nvSpPr>
            <p:cNvPr id="107" name="Rounded Rectangle"/>
            <p:cNvSpPr/>
            <p:nvPr/>
          </p:nvSpPr>
          <p:spPr>
            <a:xfrm>
              <a:off x="0" y="0"/>
              <a:ext cx="1828800" cy="9144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8" name="Lambda"/>
            <p:cNvSpPr txBox="1"/>
            <p:nvPr/>
          </p:nvSpPr>
          <p:spPr>
            <a:xfrm>
              <a:off x="95119" y="290656"/>
              <a:ext cx="163856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Lambda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Use API Gateway?</a:t>
            </a:r>
          </a:p>
        </p:txBody>
      </p:sp>
      <p:sp>
        <p:nvSpPr>
          <p:cNvPr id="11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Expose Lambda via HTTP</a:t>
            </a:r>
          </a:p>
          <a:p>
            <a:pPr/>
            <a:r>
              <a:t>Authentication &amp; security</a:t>
            </a:r>
          </a:p>
          <a:p>
            <a:pPr/>
            <a:r>
              <a:t>Rate limiting &amp; throttling</a:t>
            </a:r>
          </a:p>
          <a:p>
            <a:pPr/>
            <a:r>
              <a:t>Monitoring with CloudWatch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 Cases</a:t>
            </a:r>
          </a:p>
        </p:txBody>
      </p:sp>
      <p:sp>
        <p:nvSpPr>
          <p:cNvPr id="115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Backend for web/mobile apps</a:t>
            </a:r>
          </a:p>
          <a:p>
            <a:pPr/>
            <a:r>
              <a:t>Serverless APIs</a:t>
            </a:r>
          </a:p>
          <a:p>
            <a:pPr/>
            <a:r>
              <a:t>Microservices architecture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API Gateway vs Load Balancer</a:t>
            </a:r>
          </a:p>
        </p:txBody>
      </p:sp>
      <p:sp>
        <p:nvSpPr>
          <p:cNvPr id="11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API Gateway: API management</a:t>
            </a:r>
          </a:p>
          <a:p>
            <a:pPr/>
            <a:r>
              <a:t>ALB: Traffic distribution</a:t>
            </a:r>
          </a:p>
          <a:p>
            <a:pPr/>
            <a:r>
              <a:t>API Gateway works with Lambda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Summary</a:t>
            </a:r>
          </a:p>
        </p:txBody>
      </p:sp>
      <p:sp>
        <p:nvSpPr>
          <p:cNvPr id="121" name="Secure entry point for backend services…"/>
          <p:cNvSpPr txBox="1"/>
          <p:nvPr/>
        </p:nvSpPr>
        <p:spPr>
          <a:xfrm>
            <a:off x="1025616" y="1778137"/>
            <a:ext cx="3931722" cy="917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180473" indent="-180473" algn="just">
              <a:buSzPct val="100000"/>
              <a:buChar char="•"/>
            </a:pPr>
            <a:r>
              <a:t>Secure entry point for backend services</a:t>
            </a:r>
          </a:p>
          <a:p>
            <a:pPr marL="180473" indent="-180473" algn="just">
              <a:buSzPct val="100000"/>
              <a:buChar char="•"/>
            </a:pPr>
            <a:r>
              <a:t>Works seamlessly with Lambda</a:t>
            </a:r>
          </a:p>
          <a:p>
            <a:pPr marL="180473" indent="-180473" algn="just">
              <a:buSzPct val="100000"/>
              <a:buChar char="•"/>
            </a:pPr>
            <a:r>
              <a:t>Essential for server less architecture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